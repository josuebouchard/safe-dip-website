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97" r:id="rId3"/>
    <p:sldId id="257" r:id="rId4"/>
    <p:sldId id="301" r:id="rId5"/>
    <p:sldId id="258" r:id="rId6"/>
    <p:sldId id="260" r:id="rId7"/>
    <p:sldId id="262" r:id="rId8"/>
    <p:sldId id="298" r:id="rId9"/>
    <p:sldId id="264" r:id="rId10"/>
    <p:sldId id="265" r:id="rId11"/>
    <p:sldId id="290" r:id="rId12"/>
    <p:sldId id="291" r:id="rId13"/>
    <p:sldId id="292" r:id="rId14"/>
    <p:sldId id="293" r:id="rId15"/>
    <p:sldId id="294" r:id="rId16"/>
    <p:sldId id="296" r:id="rId17"/>
    <p:sldId id="295" r:id="rId18"/>
    <p:sldId id="279" r:id="rId19"/>
    <p:sldId id="267" r:id="rId20"/>
    <p:sldId id="273" r:id="rId21"/>
    <p:sldId id="286" r:id="rId22"/>
    <p:sldId id="280" r:id="rId23"/>
    <p:sldId id="300" r:id="rId24"/>
    <p:sldId id="299" r:id="rId25"/>
    <p:sldId id="283" r:id="rId26"/>
    <p:sldId id="284" r:id="rId27"/>
    <p:sldId id="288" r:id="rId28"/>
    <p:sldId id="285" r:id="rId29"/>
    <p:sldId id="287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983BCE-214C-037D-18A5-AB1C49376BD4}" v="28" dt="2026-07-30T15:19:46.239"/>
    <p1510:client id="{9E02F4D1-A05E-F253-B402-36C674B57F1F}" v="155" dt="2026-07-30T15:42:59.499"/>
    <p1510:client id="{A37C969C-B342-4292-8A65-979943F949A8}" v="688" dt="2026-07-30T23:52:39.275"/>
    <p1510:client id="{BA4CA441-8D28-DD24-FA35-5FA65EAB84FC}" v="32" dt="2026-07-31T01:30:24.895"/>
    <p1510:client id="{C862C992-E150-4337-8628-FACF601628FC}" v="110" dt="2026-07-30T22:17:15.573"/>
    <p1510:client id="{CC0A3651-FB09-7F4C-D0C5-8F59C4F5A270}" v="191" dt="2026-07-30T21:34:16.533"/>
    <p1510:client id="{EDCF579D-3E64-C053-9139-4C6CCE484D84}" v="2" dt="2026-07-31T13:47:49.138"/>
    <p1510:client id="{FC180B43-E210-EA9A-96DA-E57177605298}" v="31" dt="2026-07-30T15:16:05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873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Adriano/Josue</a:t>
            </a:r>
          </a:p>
          <a:p>
            <a:endParaRPr lang="en-US"/>
          </a:p>
          <a:p>
            <a:r>
              <a:rPr lang="en-US"/>
              <a:t>Welcome to the presentation of Safe Dip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Adriano/Josue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37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Adriano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C7585-18FA-733B-F412-19438E9E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7716D-E030-EA6D-1EA6-DEDCF5B8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26E1F-B5EF-71E6-4616-25F306EAB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Adriano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9514F-D9C3-F3F0-8C65-3B90210E4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71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Adriano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Josue</a:t>
            </a:r>
          </a:p>
        </p:txBody>
      </p:sp>
    </p:spTree>
    <p:extLst>
      <p:ext uri="{BB962C8B-B14F-4D97-AF65-F5344CB8AC3E}">
        <p14:creationId xmlns:p14="http://schemas.microsoft.com/office/powerpoint/2010/main" val="1967861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Adriano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3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12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05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0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94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41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14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  <a:p>
            <a:r>
              <a:rPr lang="en-US"/>
              <a:t>Power rails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colores</a:t>
            </a:r>
            <a:endParaRPr lang="en-US"/>
          </a:p>
          <a:p>
            <a:r>
              <a:rPr lang="en-US" err="1"/>
              <a:t>Seniales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negro</a:t>
            </a:r>
          </a:p>
          <a:p>
            <a:r>
              <a:rPr lang="en-US" err="1"/>
              <a:t>Modulos</a:t>
            </a:r>
            <a:r>
              <a:rPr lang="en-US"/>
              <a:t> con </a:t>
            </a:r>
            <a:r>
              <a:rPr lang="en-US" err="1"/>
              <a:t>linea</a:t>
            </a:r>
            <a:r>
              <a:rPr lang="en-US"/>
              <a:t> </a:t>
            </a:r>
            <a:r>
              <a:rPr lang="en-US" err="1"/>
              <a:t>punteada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Josue</a:t>
            </a:r>
          </a:p>
        </p:txBody>
      </p:sp>
    </p:spTree>
    <p:extLst>
      <p:ext uri="{BB962C8B-B14F-4D97-AF65-F5344CB8AC3E}">
        <p14:creationId xmlns:p14="http://schemas.microsoft.com/office/powerpoint/2010/main" val="1322697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338ED-9D13-3D86-2D93-148414094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EFBF0-FD6B-8269-D4A5-F23C755A0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FE409-924B-A663-B1C2-E3D091D96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D42C2-1DCB-B871-9C91-DDC0CB50A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30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9966-8CA1-CE70-90BD-34CE6996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61DE8-A13D-C26B-2AE1-8BC2F53D4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66381-B152-17F4-7DC7-B96A441C6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BB7A6-9A93-AAD3-A437-7598FD800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27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33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Josue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Adriano/Josue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3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VALENCIA COLLEGE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Computer Engineering Technology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EET 4910 — Senior Design Proposal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Dip</a:t>
            </a:r>
            <a:endParaRPr lang="en-US" sz="540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Safety-Oriented Hot-Dip Pick-and-Place System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4265676" y="3749040"/>
            <a:ext cx="3657600" cy="1828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Bouchard     |     Adriano Mena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Mayra Socarras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31, 2026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70583DE-D2D1-30E3-D8EF-2BBE300C9A5B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A74BFE5-2A0F-6B5E-63BF-92C28914DB60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AF69FA1-D577-645B-685F-55AB9C87F337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49D4911-105D-8A4B-6495-0C8DEF63F641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3A167F-ACF8-43C7-E4E0-56EF10B86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803" y="1401043"/>
            <a:ext cx="2599308" cy="2599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68B455-F0C5-C46B-A7F7-2066691B9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9816" y="1401043"/>
            <a:ext cx="2599308" cy="25993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D6FE78-6F76-3965-473A-3B01CEC668D4}"/>
              </a:ext>
            </a:extLst>
          </p:cNvPr>
          <p:cNvSpPr txBox="1"/>
          <p:nvPr/>
        </p:nvSpPr>
        <p:spPr>
          <a:xfrm>
            <a:off x="933436" y="4076711"/>
            <a:ext cx="4394042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Originally from Argentina</a:t>
            </a:r>
          </a:p>
          <a:p>
            <a:pPr algn="ctr"/>
            <a:r>
              <a:rPr lang="en-US" sz="1600">
                <a:ea typeface="+mn-lt"/>
                <a:cs typeface="+mn-lt"/>
              </a:rPr>
              <a:t>B.S. E.C.E.T., Computer concentration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ea typeface="+mn-lt"/>
                <a:cs typeface="+mn-lt"/>
              </a:rPr>
              <a:t>Laboratory aide and embedded-systems enthusiast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ea typeface="+mn-lt"/>
                <a:cs typeface="+mn-lt"/>
              </a:rPr>
              <a:t>Interested in robotics and aerospace</a:t>
            </a:r>
          </a:p>
          <a:p>
            <a:pPr algn="ctr"/>
            <a:endParaRPr lang="en-US" sz="160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787CC1-00C9-C648-47F7-5972973EDD32}"/>
              </a:ext>
            </a:extLst>
          </p:cNvPr>
          <p:cNvSpPr txBox="1"/>
          <p:nvPr/>
        </p:nvSpPr>
        <p:spPr>
          <a:xfrm>
            <a:off x="6748565" y="4077961"/>
            <a:ext cx="402181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Originally from Cuba</a:t>
            </a:r>
          </a:p>
          <a:p>
            <a:pPr algn="ctr"/>
            <a:r>
              <a:rPr lang="en-US" sz="1600">
                <a:ea typeface="+mn-lt"/>
                <a:cs typeface="+mn-lt"/>
              </a:rPr>
              <a:t>B.S. E.C.E.T., Electrical concentration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ea typeface="+mn-lt"/>
                <a:cs typeface="+mn-lt"/>
              </a:rPr>
              <a:t>Enjoys electrical projects and hardware design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>
                <a:ea typeface="+mn-lt"/>
                <a:cs typeface="+mn-lt"/>
              </a:rPr>
              <a:t>Interested in robotics and aerospace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F99DCDC-4B98-BBB0-AB31-CE2DD19E79FB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983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Roadmap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1508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of manual hot-dip coating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1188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Concept &amp; Requirements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15087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Dip architecture and testable requirements</a:t>
            </a:r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2588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2468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axes, motors, and end effector</a:t>
            </a:r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9360" y="214884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21488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Power</a:t>
            </a: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24688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distribution, sensing, and safety systems</a:t>
            </a:r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2588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Control</a:t>
            </a: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25880" y="3429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architecture and cycle sequencing</a:t>
            </a:r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9360" y="3108960"/>
            <a:ext cx="548640" cy="5486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3108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Preliminary Work &amp; Conclusion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95160" y="34290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and stepper signal validation</a:t>
            </a:r>
            <a:endParaRPr lang="en-US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CA21119F-3430-9FA8-1319-DA4A0C1D5689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5C4D-3E43-0847-187E-28AB4E04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4E2EF8-A729-7FBA-861C-AA0FDDD075A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CD6CBA-E165-8985-1EFF-B2F9C572639E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Dipping</a:t>
            </a:r>
            <a:endParaRPr lang="en-US"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1DFC71-D2B7-731E-E4DD-1FB0EC84B291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85BAE732-6A6D-0D48-24DF-23F07979DD79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4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784C6C2-D0BE-7FB8-E33B-39F519CD7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4179"/>
            <a:ext cx="3069771" cy="54706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7AD91B3-D8B9-33EE-861B-A70D70A2C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308" y="1154179"/>
            <a:ext cx="3077216" cy="547060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508BF9-EA42-784F-4386-880843AD8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881" y="1154179"/>
            <a:ext cx="3069772" cy="547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5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Manual Hot-Dip Coating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02920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325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Exposure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handle parts near molten wax or resin at elevated temperatures</a:t>
            </a:r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1188720"/>
            <a:ext cx="502920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325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&amp; Splash Risk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viscous materials cause serious injuries from even small splashes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502920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Strain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repetitive motion injuries from manual dipping cycles</a:t>
            </a:r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52160" y="2423160"/>
            <a:ext cx="502920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2560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Limitations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Tongs and clippers add physical strain beyond a few kilograms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dipping remains one of the more </a:t>
            </a:r>
          </a:p>
          <a:p>
            <a:pPr marL="0" indent="0">
              <a:buNone/>
            </a:pPr>
            <a:r>
              <a:rPr lang="en-US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accident-prone tasks on the shop floor</a:t>
            </a:r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B282503-ECF4-1077-1DDF-D16625E232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57" b="41478"/>
          <a:stretch>
            <a:fillRect/>
          </a:stretch>
        </p:blipFill>
        <p:spPr>
          <a:xfrm>
            <a:off x="2246389" y="3840480"/>
            <a:ext cx="7122922" cy="2694957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5216DF03-580B-5402-43B4-E04EE24E5925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Dip: System Concept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91772" y="1188720"/>
            <a:ext cx="6450655" cy="4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two-axis Cartesian gantry that automates the pick, dip, and place cycle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48640" y="1699623"/>
            <a:ext cx="73152" cy="5943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169962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Stations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777240" y="1973943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Input, dipping bath, and output positions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476863"/>
            <a:ext cx="73152" cy="5943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476863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77240" y="2751183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Hardwired Category 0 E-stop independent of microcontroller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7589520" y="961571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9F8F5"/>
          </a:solidFill>
          <a:ln w="12700">
            <a:solidFill>
              <a:srgbClr val="437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9520" y="961571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8823960" y="1190171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/>
          </a:p>
        </p:txBody>
      </p:sp>
      <p:sp>
        <p:nvSpPr>
          <p:cNvPr id="23" name="Shape 21"/>
          <p:cNvSpPr/>
          <p:nvPr/>
        </p:nvSpPr>
        <p:spPr>
          <a:xfrm>
            <a:off x="9144000" y="961571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9F8F5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0" y="961571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DIPPING</a:t>
            </a:r>
            <a:endParaRPr lang="en-US" sz="11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0378440" y="1190171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10698480" y="961571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9F8F5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698480" y="961571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7589520" y="2150291"/>
            <a:ext cx="4114800" cy="73152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589520" y="2287451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Gantry beam (horizontal axis)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589184" y="4770332"/>
            <a:ext cx="5773373" cy="776090"/>
          </a:xfrm>
          <a:prstGeom prst="rect">
            <a:avLst/>
          </a:prstGeom>
          <a:solidFill>
            <a:srgbClr val="F9F8F5"/>
          </a:solidFill>
          <a:ln w="12700">
            <a:solidFill>
              <a:srgbClr val="E8A317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600" i="1">
                <a:solidFill>
                  <a:srgbClr val="28251D"/>
                </a:solidFill>
                <a:ea typeface="Calibri"/>
                <a:cs typeface="Calibri"/>
              </a:rPr>
              <a:t>An interface will be exposed for the conveyor belts, but they are not considered part of the system</a:t>
            </a: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288F0FE-FDEB-DBD8-E3EE-281576F57E9D}"/>
              </a:ext>
            </a:extLst>
          </p:cNvPr>
          <p:cNvSpPr/>
          <p:nvPr/>
        </p:nvSpPr>
        <p:spPr>
          <a:xfrm>
            <a:off x="11335512" y="618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2E0783-807C-9DA6-E344-968B3467A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458" y="2113470"/>
            <a:ext cx="5467309" cy="4198189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8D026FE4-552D-FE3C-27C9-5BCE1FA580F7}"/>
              </a:ext>
            </a:extLst>
          </p:cNvPr>
          <p:cNvGrpSpPr/>
          <p:nvPr/>
        </p:nvGrpSpPr>
        <p:grpSpPr>
          <a:xfrm>
            <a:off x="548640" y="3227609"/>
            <a:ext cx="6492240" cy="594360"/>
            <a:chOff x="548640" y="3227609"/>
            <a:chExt cx="6492240" cy="594360"/>
          </a:xfrm>
        </p:grpSpPr>
        <p:sp>
          <p:nvSpPr>
            <p:cNvPr id="39" name="Shape 15">
              <a:extLst>
                <a:ext uri="{FF2B5EF4-FFF2-40B4-BE49-F238E27FC236}">
                  <a16:creationId xmlns:a16="http://schemas.microsoft.com/office/drawing/2014/main" id="{4C9C3A0F-AE7F-A4C2-71B4-9A2CB7F72975}"/>
                </a:ext>
              </a:extLst>
            </p:cNvPr>
            <p:cNvSpPr/>
            <p:nvPr/>
          </p:nvSpPr>
          <p:spPr>
            <a:xfrm>
              <a:off x="548640" y="3227609"/>
              <a:ext cx="73152" cy="594360"/>
            </a:xfrm>
            <a:prstGeom prst="rect">
              <a:avLst/>
            </a:prstGeom>
            <a:solidFill>
              <a:srgbClr val="E8A31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16">
              <a:extLst>
                <a:ext uri="{FF2B5EF4-FFF2-40B4-BE49-F238E27FC236}">
                  <a16:creationId xmlns:a16="http://schemas.microsoft.com/office/drawing/2014/main" id="{C86711E0-BBBF-360B-3435-97646BD0257D}"/>
                </a:ext>
              </a:extLst>
            </p:cNvPr>
            <p:cNvSpPr/>
            <p:nvPr/>
          </p:nvSpPr>
          <p:spPr>
            <a:xfrm>
              <a:off x="777240" y="3227609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28251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Remove the Operator</a:t>
              </a:r>
              <a:endParaRPr lang="en-US" sz="1600"/>
            </a:p>
          </p:txBody>
        </p:sp>
        <p:sp>
          <p:nvSpPr>
            <p:cNvPr id="43" name="Text 17">
              <a:extLst>
                <a:ext uri="{FF2B5EF4-FFF2-40B4-BE49-F238E27FC236}">
                  <a16:creationId xmlns:a16="http://schemas.microsoft.com/office/drawing/2014/main" id="{AC642DDE-7FEE-A268-8F62-9910A4E7EA3E}"/>
                </a:ext>
              </a:extLst>
            </p:cNvPr>
            <p:cNvSpPr/>
            <p:nvPr/>
          </p:nvSpPr>
          <p:spPr>
            <a:xfrm>
              <a:off x="777240" y="3501929"/>
              <a:ext cx="62636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1600"/>
                </a:lnSpc>
                <a:buSzPct val="100000"/>
              </a:pPr>
              <a:r>
                <a:rPr lang="en-US" sz="1600">
                  <a:solidFill>
                    <a:srgbClr val="28251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Eliminates direct exposure to heat and burns</a:t>
              </a:r>
              <a:endParaRPr lang="en-US" sz="1600"/>
            </a:p>
          </p:txBody>
        </p:sp>
      </p:grpSp>
      <p:sp>
        <p:nvSpPr>
          <p:cNvPr id="47" name="Shape 15">
            <a:extLst>
              <a:ext uri="{FF2B5EF4-FFF2-40B4-BE49-F238E27FC236}">
                <a16:creationId xmlns:a16="http://schemas.microsoft.com/office/drawing/2014/main" id="{785C47EF-9A84-9B16-A96E-49B230DAEFF1}"/>
              </a:ext>
            </a:extLst>
          </p:cNvPr>
          <p:cNvSpPr/>
          <p:nvPr/>
        </p:nvSpPr>
        <p:spPr>
          <a:xfrm>
            <a:off x="548640" y="3932635"/>
            <a:ext cx="73152" cy="5943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8A02675F-6B10-E2A9-A50B-47DB65977DDC}"/>
              </a:ext>
            </a:extLst>
          </p:cNvPr>
          <p:cNvSpPr/>
          <p:nvPr/>
        </p:nvSpPr>
        <p:spPr>
          <a:xfrm>
            <a:off x="777240" y="393263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for Chemical Flexibility</a:t>
            </a:r>
            <a:endParaRPr lang="en-US" sz="160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6B794DC-792F-6912-3569-AB51985ABA80}"/>
              </a:ext>
            </a:extLst>
          </p:cNvPr>
          <p:cNvSpPr/>
          <p:nvPr/>
        </p:nvSpPr>
        <p:spPr>
          <a:xfrm>
            <a:off x="777240" y="4206955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  <a:buSzPct val="100000"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 works with wax, resin, or any treatment chemicals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Similar Products: Market Gap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1339596" y="1280160"/>
            <a:ext cx="274320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431036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082796" y="1280160"/>
            <a:ext cx="182880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4174236" y="1280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5911596" y="1280160"/>
            <a:ext cx="164592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003036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Place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557516" y="1280160"/>
            <a:ext cx="164592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7648956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Dip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9203436" y="1280160"/>
            <a:ext cx="164592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9294876" y="1280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Chem. Flex.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1339596" y="1645920"/>
            <a:ext cx="27432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431036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Dip (Ours)</a:t>
            </a:r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4082796" y="1645920"/>
            <a:ext cx="18288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174236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~$500-$600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5911596" y="164592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6003036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7557516" y="164592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7648956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9203436" y="164592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9294876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27" name="Shape 25"/>
          <p:cNvSpPr/>
          <p:nvPr/>
        </p:nvSpPr>
        <p:spPr>
          <a:xfrm>
            <a:off x="1339596" y="201168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1431036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EFFCO DS-250</a:t>
            </a:r>
            <a:endParaRPr lang="en-US" sz="1600"/>
          </a:p>
        </p:txBody>
      </p:sp>
      <p:sp>
        <p:nvSpPr>
          <p:cNvPr id="29" name="Shape 27"/>
          <p:cNvSpPr/>
          <p:nvPr/>
        </p:nvSpPr>
        <p:spPr>
          <a:xfrm>
            <a:off x="4082796" y="201168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4174236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$15k-$25k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5911596" y="20116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00303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33" name="Shape 31"/>
          <p:cNvSpPr/>
          <p:nvPr/>
        </p:nvSpPr>
        <p:spPr>
          <a:xfrm>
            <a:off x="7557516" y="20116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764895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35" name="Shape 33"/>
          <p:cNvSpPr/>
          <p:nvPr/>
        </p:nvSpPr>
        <p:spPr>
          <a:xfrm>
            <a:off x="9203436" y="20116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929487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1339596" y="2377440"/>
            <a:ext cx="27432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1431036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MS800 Tiltable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4082796" y="2377440"/>
            <a:ext cx="18288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4174236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$40k-$80k</a:t>
            </a:r>
            <a:endParaRPr lang="en-US" sz="1600"/>
          </a:p>
        </p:txBody>
      </p:sp>
      <p:sp>
        <p:nvSpPr>
          <p:cNvPr id="41" name="Shape 39"/>
          <p:cNvSpPr/>
          <p:nvPr/>
        </p:nvSpPr>
        <p:spPr>
          <a:xfrm>
            <a:off x="5911596" y="237744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6003036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7557516" y="237744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7648956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45" name="Shape 43"/>
          <p:cNvSpPr/>
          <p:nvPr/>
        </p:nvSpPr>
        <p:spPr>
          <a:xfrm>
            <a:off x="9203436" y="237744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6" name="Text 44"/>
          <p:cNvSpPr/>
          <p:nvPr/>
        </p:nvSpPr>
        <p:spPr>
          <a:xfrm>
            <a:off x="9294876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1339596" y="274320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8" name="Text 46"/>
          <p:cNvSpPr/>
          <p:nvPr/>
        </p:nvSpPr>
        <p:spPr>
          <a:xfrm>
            <a:off x="1431036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Monorail Screw</a:t>
            </a:r>
            <a:endParaRPr lang="en-US" sz="1600"/>
          </a:p>
        </p:txBody>
      </p:sp>
      <p:sp>
        <p:nvSpPr>
          <p:cNvPr id="49" name="Shape 47"/>
          <p:cNvSpPr/>
          <p:nvPr/>
        </p:nvSpPr>
        <p:spPr>
          <a:xfrm>
            <a:off x="4082796" y="274320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0" name="Text 48"/>
          <p:cNvSpPr/>
          <p:nvPr/>
        </p:nvSpPr>
        <p:spPr>
          <a:xfrm>
            <a:off x="4174236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$3k-$4k</a:t>
            </a:r>
            <a:endParaRPr lang="en-US" sz="1600"/>
          </a:p>
        </p:txBody>
      </p:sp>
      <p:sp>
        <p:nvSpPr>
          <p:cNvPr id="51" name="Shape 49"/>
          <p:cNvSpPr/>
          <p:nvPr/>
        </p:nvSpPr>
        <p:spPr>
          <a:xfrm>
            <a:off x="5911596" y="27432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2" name="Text 50"/>
          <p:cNvSpPr/>
          <p:nvPr/>
        </p:nvSpPr>
        <p:spPr>
          <a:xfrm>
            <a:off x="6003036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53" name="Shape 51"/>
          <p:cNvSpPr/>
          <p:nvPr/>
        </p:nvSpPr>
        <p:spPr>
          <a:xfrm>
            <a:off x="7557516" y="27432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4" name="Text 52"/>
          <p:cNvSpPr/>
          <p:nvPr/>
        </p:nvSpPr>
        <p:spPr>
          <a:xfrm>
            <a:off x="7648956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55" name="Shape 53"/>
          <p:cNvSpPr/>
          <p:nvPr/>
        </p:nvSpPr>
        <p:spPr>
          <a:xfrm>
            <a:off x="9203436" y="274320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6" name="Text 54"/>
          <p:cNvSpPr/>
          <p:nvPr/>
        </p:nvSpPr>
        <p:spPr>
          <a:xfrm>
            <a:off x="9294876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600"/>
          </a:p>
        </p:txBody>
      </p:sp>
      <p:sp>
        <p:nvSpPr>
          <p:cNvPr id="57" name="Shape 55"/>
          <p:cNvSpPr/>
          <p:nvPr/>
        </p:nvSpPr>
        <p:spPr>
          <a:xfrm>
            <a:off x="1339596" y="3108960"/>
            <a:ext cx="27432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8" name="Text 56"/>
          <p:cNvSpPr/>
          <p:nvPr/>
        </p:nvSpPr>
        <p:spPr>
          <a:xfrm>
            <a:off x="1431036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Coater</a:t>
            </a:r>
            <a:endParaRPr lang="en-US" sz="1600"/>
          </a:p>
        </p:txBody>
      </p:sp>
      <p:sp>
        <p:nvSpPr>
          <p:cNvPr id="59" name="Shape 57"/>
          <p:cNvSpPr/>
          <p:nvPr/>
        </p:nvSpPr>
        <p:spPr>
          <a:xfrm>
            <a:off x="4082796" y="3108960"/>
            <a:ext cx="18288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0" name="Text 58"/>
          <p:cNvSpPr/>
          <p:nvPr/>
        </p:nvSpPr>
        <p:spPr>
          <a:xfrm>
            <a:off x="4174236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$20k-$30k</a:t>
            </a:r>
            <a:endParaRPr lang="en-US" sz="1600"/>
          </a:p>
        </p:txBody>
      </p:sp>
      <p:sp>
        <p:nvSpPr>
          <p:cNvPr id="61" name="Shape 59"/>
          <p:cNvSpPr/>
          <p:nvPr/>
        </p:nvSpPr>
        <p:spPr>
          <a:xfrm>
            <a:off x="5911596" y="310896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2" name="Text 60"/>
          <p:cNvSpPr/>
          <p:nvPr/>
        </p:nvSpPr>
        <p:spPr>
          <a:xfrm>
            <a:off x="6003036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63" name="Shape 61"/>
          <p:cNvSpPr/>
          <p:nvPr/>
        </p:nvSpPr>
        <p:spPr>
          <a:xfrm>
            <a:off x="7557516" y="310896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4" name="Text 62"/>
          <p:cNvSpPr/>
          <p:nvPr/>
        </p:nvSpPr>
        <p:spPr>
          <a:xfrm>
            <a:off x="7648956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65" name="Shape 63"/>
          <p:cNvSpPr/>
          <p:nvPr/>
        </p:nvSpPr>
        <p:spPr>
          <a:xfrm>
            <a:off x="9203436" y="310896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6" name="Text 64"/>
          <p:cNvSpPr/>
          <p:nvPr/>
        </p:nvSpPr>
        <p:spPr>
          <a:xfrm>
            <a:off x="9294876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/>
          </a:p>
        </p:txBody>
      </p:sp>
      <p:sp>
        <p:nvSpPr>
          <p:cNvPr id="67" name="Shape 65"/>
          <p:cNvSpPr/>
          <p:nvPr/>
        </p:nvSpPr>
        <p:spPr>
          <a:xfrm>
            <a:off x="1339596" y="3474720"/>
            <a:ext cx="2743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8" name="Text 66"/>
          <p:cNvSpPr/>
          <p:nvPr/>
        </p:nvSpPr>
        <p:spPr>
          <a:xfrm>
            <a:off x="1431036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Emmeti WAX-ON</a:t>
            </a:r>
            <a:endParaRPr lang="en-US" sz="1600"/>
          </a:p>
        </p:txBody>
      </p:sp>
      <p:sp>
        <p:nvSpPr>
          <p:cNvPr id="69" name="Shape 67"/>
          <p:cNvSpPr/>
          <p:nvPr/>
        </p:nvSpPr>
        <p:spPr>
          <a:xfrm>
            <a:off x="4082796" y="347472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0" name="Text 68"/>
          <p:cNvSpPr/>
          <p:nvPr/>
        </p:nvSpPr>
        <p:spPr>
          <a:xfrm>
            <a:off x="417423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$50k-$150k+</a:t>
            </a:r>
            <a:endParaRPr lang="en-US" sz="1600"/>
          </a:p>
        </p:txBody>
      </p:sp>
      <p:sp>
        <p:nvSpPr>
          <p:cNvPr id="71" name="Shape 69"/>
          <p:cNvSpPr/>
          <p:nvPr/>
        </p:nvSpPr>
        <p:spPr>
          <a:xfrm>
            <a:off x="5911596" y="3474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2" name="Text 70"/>
          <p:cNvSpPr/>
          <p:nvPr/>
        </p:nvSpPr>
        <p:spPr>
          <a:xfrm>
            <a:off x="6003036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73" name="Shape 71"/>
          <p:cNvSpPr/>
          <p:nvPr/>
        </p:nvSpPr>
        <p:spPr>
          <a:xfrm>
            <a:off x="7557516" y="3474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4" name="Text 72"/>
          <p:cNvSpPr/>
          <p:nvPr/>
        </p:nvSpPr>
        <p:spPr>
          <a:xfrm>
            <a:off x="7648956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75" name="Shape 73"/>
          <p:cNvSpPr/>
          <p:nvPr/>
        </p:nvSpPr>
        <p:spPr>
          <a:xfrm>
            <a:off x="9203436" y="347472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6" name="Text 74"/>
          <p:cNvSpPr/>
          <p:nvPr/>
        </p:nvSpPr>
        <p:spPr>
          <a:xfrm>
            <a:off x="9294876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600"/>
          </a:p>
        </p:txBody>
      </p:sp>
      <p:sp>
        <p:nvSpPr>
          <p:cNvPr id="77" name="Shape 75"/>
          <p:cNvSpPr/>
          <p:nvPr/>
        </p:nvSpPr>
        <p:spPr>
          <a:xfrm>
            <a:off x="1339596" y="3840480"/>
            <a:ext cx="27432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8" name="Text 76"/>
          <p:cNvSpPr/>
          <p:nvPr/>
        </p:nvSpPr>
        <p:spPr>
          <a:xfrm>
            <a:off x="1431036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Shore Dip Cell</a:t>
            </a:r>
            <a:endParaRPr lang="en-US" sz="1600"/>
          </a:p>
        </p:txBody>
      </p:sp>
      <p:sp>
        <p:nvSpPr>
          <p:cNvPr id="79" name="Shape 77"/>
          <p:cNvSpPr/>
          <p:nvPr/>
        </p:nvSpPr>
        <p:spPr>
          <a:xfrm>
            <a:off x="4082796" y="3840480"/>
            <a:ext cx="182880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0" name="Text 78"/>
          <p:cNvSpPr/>
          <p:nvPr/>
        </p:nvSpPr>
        <p:spPr>
          <a:xfrm>
            <a:off x="4174236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600"/>
          </a:p>
        </p:txBody>
      </p:sp>
      <p:sp>
        <p:nvSpPr>
          <p:cNvPr id="81" name="Shape 79"/>
          <p:cNvSpPr/>
          <p:nvPr/>
        </p:nvSpPr>
        <p:spPr>
          <a:xfrm>
            <a:off x="5911596" y="384048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2" name="Text 80"/>
          <p:cNvSpPr/>
          <p:nvPr/>
        </p:nvSpPr>
        <p:spPr>
          <a:xfrm>
            <a:off x="6003036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83" name="Shape 81"/>
          <p:cNvSpPr/>
          <p:nvPr/>
        </p:nvSpPr>
        <p:spPr>
          <a:xfrm>
            <a:off x="7557516" y="384048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4" name="Text 82"/>
          <p:cNvSpPr/>
          <p:nvPr/>
        </p:nvSpPr>
        <p:spPr>
          <a:xfrm>
            <a:off x="7648956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85" name="Shape 83"/>
          <p:cNvSpPr/>
          <p:nvPr/>
        </p:nvSpPr>
        <p:spPr>
          <a:xfrm>
            <a:off x="9203436" y="3840480"/>
            <a:ext cx="1645920" cy="3657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86" name="Text 84"/>
          <p:cNvSpPr/>
          <p:nvPr/>
        </p:nvSpPr>
        <p:spPr>
          <a:xfrm>
            <a:off x="9294876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/>
          </a:p>
        </p:txBody>
      </p:sp>
      <p:sp>
        <p:nvSpPr>
          <p:cNvPr id="87" name="Shape 85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88" name="Text 86"/>
          <p:cNvSpPr/>
          <p:nvPr/>
        </p:nvSpPr>
        <p:spPr>
          <a:xfrm>
            <a:off x="731520" y="45720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Dip is the only system under $1,000 that combines pick-and-place, variable dip depth, and chemical flexibility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2D28C25-B269-D16C-CAC8-C6A93EA19E1B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B10CD05-173C-014E-7F41-89F2E38C79F9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68E09F3-1EEF-4225-EEE9-E97C692C4013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</a:rPr>
              <a:t>Operational Limitations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265EA9-4777-7DA5-136A-B5090FB21B52}"/>
              </a:ext>
            </a:extLst>
          </p:cNvPr>
          <p:cNvSpPr/>
          <p:nvPr/>
        </p:nvSpPr>
        <p:spPr>
          <a:xfrm>
            <a:off x="457199" y="1417320"/>
            <a:ext cx="5489449" cy="4029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0E8DA-1436-B153-D230-9CE40646371A}"/>
              </a:ext>
            </a:extLst>
          </p:cNvPr>
          <p:cNvSpPr txBox="1"/>
          <p:nvPr/>
        </p:nvSpPr>
        <p:spPr>
          <a:xfrm>
            <a:off x="685800" y="1508760"/>
            <a:ext cx="16376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1A1A"/>
                </a:solidFill>
                <a:latin typeface="Calibri"/>
              </a:defRPr>
            </a:pPr>
            <a:r>
              <a:rPr sz="1400"/>
              <a:t>General Limitations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AD439-E730-5F6B-54CE-D2AF8E82FB63}"/>
              </a:ext>
            </a:extLst>
          </p:cNvPr>
          <p:cNvSpPr txBox="1"/>
          <p:nvPr/>
        </p:nvSpPr>
        <p:spPr>
          <a:xfrm>
            <a:off x="685800" y="1965960"/>
            <a:ext cx="5029200" cy="3318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8251D"/>
                </a:solidFill>
                <a:latin typeface="Calibri"/>
              </a:defRPr>
            </a:pPr>
            <a:r>
              <a:rPr sz="1400"/>
              <a:t>•  Two-axis motion only</a:t>
            </a: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sz="1400"/>
              <a:t>Horizontal (transfer) + vertical (pick/dip/place). No rotation or lateral movement.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28251D"/>
                </a:solidFill>
                <a:latin typeface="Calibri"/>
              </a:defRPr>
            </a:pPr>
            <a:r>
              <a:rPr sz="1400"/>
              <a:t>•  Cylindrical workpieces</a:t>
            </a: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sz="1400"/>
              <a:t>Designed for cylindrical parts within specified size and payload limits.</a:t>
            </a:r>
            <a:endParaRPr lang="en-US" sz="1400"/>
          </a:p>
          <a:p>
            <a:pPr>
              <a:spcBef>
                <a:spcPts val="800"/>
              </a:spcBef>
              <a:spcAft>
                <a:spcPts val="2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lang="en-US" sz="1400" b="1">
                <a:solidFill>
                  <a:srgbClr val="28251D"/>
                </a:solidFill>
                <a:ea typeface="Calibri"/>
                <a:cs typeface="Calibri"/>
              </a:rPr>
              <a:t>• Ferromagnetic surface required</a:t>
            </a:r>
            <a:endParaRPr lang="en-US" sz="1400">
              <a:solidFill>
                <a:srgbClr val="28251D"/>
              </a:solidFill>
              <a:ea typeface="Calibri"/>
              <a:cs typeface="Calibri"/>
            </a:endParaRP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lang="en-US" sz="1400">
                <a:solidFill>
                  <a:srgbClr val="7A7974"/>
                </a:solidFill>
                <a:ea typeface="Calibri"/>
                <a:cs typeface="Calibri"/>
              </a:rPr>
              <a:t>Workpiece needs a clean, flat, ferromagnetic attachment area. This contact zone is not coated.</a:t>
            </a:r>
            <a:endParaRPr lang="en-US" sz="1400">
              <a:solidFill>
                <a:srgbClr val="28251D"/>
              </a:solidFill>
              <a:ea typeface="Calibri"/>
              <a:cs typeface="Calibri"/>
            </a:endParaRPr>
          </a:p>
          <a:p>
            <a:pPr>
              <a:spcBef>
                <a:spcPts val="800"/>
              </a:spcBef>
              <a:spcAft>
                <a:spcPts val="2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lang="en-US" sz="1400" b="1">
                <a:solidFill>
                  <a:srgbClr val="28251D"/>
                </a:solidFill>
              </a:rPr>
              <a:t>•  Fixed input position</a:t>
            </a:r>
            <a:endParaRPr lang="en-US">
              <a:ea typeface="Calibri"/>
              <a:cs typeface="Calibri"/>
            </a:endParaRP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lang="en-US" sz="1400">
                <a:solidFill>
                  <a:srgbClr val="7A7974"/>
                </a:solidFill>
              </a:rPr>
              <a:t>No alignment, orientation correction, or vision-based localization.</a:t>
            </a:r>
            <a:endParaRPr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A0D59A-16A3-353B-BC71-4F6BC8B0F4E6}"/>
              </a:ext>
            </a:extLst>
          </p:cNvPr>
          <p:cNvSpPr/>
          <p:nvPr/>
        </p:nvSpPr>
        <p:spPr>
          <a:xfrm>
            <a:off x="6245352" y="1417320"/>
            <a:ext cx="5257800" cy="4029891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040CE6-2E86-21E8-ED11-BA328889895A}"/>
              </a:ext>
            </a:extLst>
          </p:cNvPr>
          <p:cNvSpPr txBox="1"/>
          <p:nvPr/>
        </p:nvSpPr>
        <p:spPr>
          <a:xfrm>
            <a:off x="6473952" y="1508760"/>
            <a:ext cx="24215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B1A1A"/>
                </a:solidFill>
                <a:latin typeface="Calibri"/>
              </a:defRPr>
            </a:pPr>
            <a:r>
              <a:rPr sz="1400"/>
              <a:t>Prototype-Specific Limitations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43F3B0-6AA4-50DC-B1DD-471DB9A20F7F}"/>
              </a:ext>
            </a:extLst>
          </p:cNvPr>
          <p:cNvSpPr txBox="1"/>
          <p:nvPr/>
        </p:nvSpPr>
        <p:spPr>
          <a:xfrm>
            <a:off x="6473952" y="1965960"/>
            <a:ext cx="5029200" cy="24673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28251D"/>
                </a:solidFill>
                <a:latin typeface="Calibri"/>
              </a:defRPr>
            </a:pPr>
            <a:r>
              <a:rPr sz="1400"/>
              <a:t>•  Max payload: 1 </a:t>
            </a:r>
            <a:r>
              <a:rPr lang="en-US" sz="1400" err="1"/>
              <a:t>lb</a:t>
            </a:r>
            <a:endParaRPr lang="en-US" sz="1400" err="1">
              <a:ea typeface="Calibri"/>
              <a:cs typeface="Calibri"/>
            </a:endParaRP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sz="1400"/>
              <a:t>Validated operating range. Heavier payloads are outside the prototype's tested capacity.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28251D"/>
                </a:solidFill>
                <a:latin typeface="Calibri"/>
              </a:defRPr>
            </a:pPr>
            <a:r>
              <a:rPr sz="1400"/>
              <a:t>•  Thermal design out of scope</a:t>
            </a: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sz="1400"/>
              <a:t>Heat affects frame, wiring, sensors, motors, and lubrication. Industrial thermal design is future work.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300" b="1">
                <a:solidFill>
                  <a:srgbClr val="28251D"/>
                </a:solidFill>
                <a:latin typeface="Calibri"/>
              </a:defRPr>
            </a:pPr>
            <a:r>
              <a:rPr sz="1400"/>
              <a:t>•  Focus: control &amp; safety</a:t>
            </a:r>
          </a:p>
          <a:p>
            <a:pPr lvl="1">
              <a:spcAft>
                <a:spcPts val="600"/>
              </a:spcAft>
              <a:defRPr sz="1150">
                <a:solidFill>
                  <a:srgbClr val="7A7974"/>
                </a:solidFill>
                <a:latin typeface="Calibri"/>
              </a:defRPr>
            </a:pPr>
            <a:r>
              <a:rPr sz="1400"/>
              <a:t>Prototype </a:t>
            </a:r>
            <a:r>
              <a:rPr lang="en-US" sz="1400"/>
              <a:t>seeks to demonstrates</a:t>
            </a:r>
            <a:r>
              <a:rPr sz="1400"/>
              <a:t> electrical, control, sensing, comms, and </a:t>
            </a:r>
            <a:r>
              <a:rPr lang="en-US" sz="1400"/>
              <a:t>orientation to safety</a:t>
            </a:r>
            <a:r>
              <a:rPr sz="1400"/>
              <a:t> systems.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7C70E9A-31D6-01C6-6DE0-5AC086B5C6CE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00042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Requirements (SR-01 to SR-11)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SR-01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508760" y="1188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motion unless workpiece detected at input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40080" y="16824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508760" y="16824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end effector at pickup within ±1 cm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548640" y="2176272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40080" y="21762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SR-03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508760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workpiece through full cycle without dropping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548640" y="2670048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SR-04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508760" y="2670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to immersion depth within ±1 cm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548640" y="3163824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40080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SR-05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1508760" y="31638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dwell time within ±1 s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SR-06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508760" y="36576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one unattended pick-dip-place cycle</a:t>
            </a:r>
            <a:endParaRPr lang="en-US" sz="1500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309360" y="1188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SR-07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7178040" y="1188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 removes power from both motor drivers</a:t>
            </a:r>
            <a:endParaRPr lang="en-US" sz="1500"/>
          </a:p>
        </p:txBody>
      </p:sp>
      <p:sp>
        <p:nvSpPr>
          <p:cNvPr id="28" name="Shape 26"/>
          <p:cNvSpPr/>
          <p:nvPr/>
        </p:nvSpPr>
        <p:spPr>
          <a:xfrm>
            <a:off x="6217920" y="1682496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6309360" y="16824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SR-08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7178040" y="168249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stays inhibited after E-stop until reset + restart</a:t>
            </a:r>
            <a:endParaRPr lang="en-US" sz="1500"/>
          </a:p>
        </p:txBody>
      </p:sp>
      <p:sp>
        <p:nvSpPr>
          <p:cNvPr id="31" name="Shape 29"/>
          <p:cNvSpPr/>
          <p:nvPr/>
        </p:nvSpPr>
        <p:spPr>
          <a:xfrm>
            <a:off x="6217920" y="2176272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6309360" y="21762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SR-09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7178040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operating state and faults via comms</a:t>
            </a:r>
            <a:endParaRPr lang="en-US" sz="1500"/>
          </a:p>
        </p:txBody>
      </p:sp>
      <p:sp>
        <p:nvSpPr>
          <p:cNvPr id="34" name="Shape 32"/>
          <p:cNvSpPr/>
          <p:nvPr/>
        </p:nvSpPr>
        <p:spPr>
          <a:xfrm>
            <a:off x="6217920" y="2670048"/>
            <a:ext cx="5394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5" name="Text 33"/>
          <p:cNvSpPr/>
          <p:nvPr/>
        </p:nvSpPr>
        <p:spPr>
          <a:xfrm>
            <a:off x="6309360" y="26700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SR-10</a:t>
            </a:r>
            <a:endParaRPr lang="en-US" sz="1500"/>
          </a:p>
        </p:txBody>
      </p:sp>
      <p:sp>
        <p:nvSpPr>
          <p:cNvPr id="36" name="Text 34"/>
          <p:cNvSpPr/>
          <p:nvPr/>
        </p:nvSpPr>
        <p:spPr>
          <a:xfrm>
            <a:off x="7178040" y="26700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10 consecutive cycles without failure</a:t>
            </a:r>
            <a:endParaRPr lang="en-US" sz="1500"/>
          </a:p>
        </p:txBody>
      </p:sp>
      <p:sp>
        <p:nvSpPr>
          <p:cNvPr id="37" name="Shape 35"/>
          <p:cNvSpPr/>
          <p:nvPr/>
        </p:nvSpPr>
        <p:spPr>
          <a:xfrm>
            <a:off x="6217920" y="3163824"/>
            <a:ext cx="5394960" cy="384048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sp>
        <p:nvSpPr>
          <p:cNvPr id="38" name="Text 36"/>
          <p:cNvSpPr/>
          <p:nvPr/>
        </p:nvSpPr>
        <p:spPr>
          <a:xfrm>
            <a:off x="6309360" y="316382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SR-11</a:t>
            </a:r>
            <a:endParaRPr lang="en-US" sz="1500"/>
          </a:p>
        </p:txBody>
      </p:sp>
      <p:sp>
        <p:nvSpPr>
          <p:cNvPr id="39" name="Text 37"/>
          <p:cNvSpPr/>
          <p:nvPr/>
        </p:nvSpPr>
        <p:spPr>
          <a:xfrm>
            <a:off x="7178040" y="316382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with max weight of 1 lb workpiece payload</a:t>
            </a:r>
            <a:endParaRPr lang="en-US" sz="1500"/>
          </a:p>
        </p:txBody>
      </p:sp>
      <p:sp>
        <p:nvSpPr>
          <p:cNvPr id="40" name="Text 3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has a defined pass/fail test condition</a:t>
            </a:r>
            <a:endParaRPr lang="en-US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Block Diagram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89611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Functional Modules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8961120" y="16459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91897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600"/>
          </a:p>
        </p:txBody>
      </p:sp>
      <p:sp>
        <p:nvSpPr>
          <p:cNvPr id="12" name="Shape 9"/>
          <p:cNvSpPr/>
          <p:nvPr/>
        </p:nvSpPr>
        <p:spPr>
          <a:xfrm>
            <a:off x="8961120" y="21031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918972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 &amp; Protection</a:t>
            </a:r>
            <a:endParaRPr lang="en-US" sz="1600"/>
          </a:p>
        </p:txBody>
      </p:sp>
      <p:sp>
        <p:nvSpPr>
          <p:cNvPr id="14" name="Shape 11"/>
          <p:cNvSpPr/>
          <p:nvPr/>
        </p:nvSpPr>
        <p:spPr>
          <a:xfrm>
            <a:off x="8961120" y="25603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918972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(MCU)</a:t>
            </a:r>
            <a:endParaRPr lang="en-US" sz="1600"/>
          </a:p>
        </p:txBody>
      </p:sp>
      <p:sp>
        <p:nvSpPr>
          <p:cNvPr id="16" name="Shape 13"/>
          <p:cNvSpPr/>
          <p:nvPr/>
        </p:nvSpPr>
        <p:spPr>
          <a:xfrm>
            <a:off x="8961120" y="30175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91897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8961120" y="34747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918972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600"/>
          </a:p>
        </p:txBody>
      </p:sp>
      <p:sp>
        <p:nvSpPr>
          <p:cNvPr id="20" name="Shape 17"/>
          <p:cNvSpPr/>
          <p:nvPr/>
        </p:nvSpPr>
        <p:spPr>
          <a:xfrm>
            <a:off x="8961120" y="39319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918972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Effector</a:t>
            </a:r>
            <a:endParaRPr lang="en-US" sz="1600"/>
          </a:p>
        </p:txBody>
      </p:sp>
      <p:sp>
        <p:nvSpPr>
          <p:cNvPr id="22" name="Shape 19"/>
          <p:cNvSpPr/>
          <p:nvPr/>
        </p:nvSpPr>
        <p:spPr>
          <a:xfrm>
            <a:off x="8961120" y="4389120"/>
            <a:ext cx="137160" cy="36576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918972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</a:t>
            </a: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5BDF56-FD05-D9D9-A69F-3F8F63AA8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63" y="1182914"/>
            <a:ext cx="7580073" cy="5312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9F0AF46-4025-08E4-AF2E-49448CAA5A0C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Power Distribution Specifications 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55E9372-0690-D52F-A046-55A578994A0A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A65070-1D2A-AC8F-53B6-CA4459213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" r="2809" b="12116"/>
          <a:stretch>
            <a:fillRect/>
          </a:stretch>
        </p:blipFill>
        <p:spPr>
          <a:xfrm>
            <a:off x="719297" y="1104173"/>
            <a:ext cx="2318985" cy="1487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A2B6D2-BE65-371B-6943-1BE4AD6C09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35" b="11528"/>
          <a:stretch>
            <a:fillRect/>
          </a:stretch>
        </p:blipFill>
        <p:spPr>
          <a:xfrm>
            <a:off x="3229488" y="3429000"/>
            <a:ext cx="1627458" cy="15310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18B683-D4DB-24AF-F3EE-4EBBBC5C4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97" y="4522379"/>
            <a:ext cx="1530275" cy="13517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65D7D2-CFA4-E286-FBC1-8021814CEF1D}"/>
              </a:ext>
            </a:extLst>
          </p:cNvPr>
          <p:cNvSpPr txBox="1"/>
          <p:nvPr/>
        </p:nvSpPr>
        <p:spPr>
          <a:xfrm>
            <a:off x="655498" y="2681813"/>
            <a:ext cx="2889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Mean Well LRS-350-48 AC-DC power supply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E8413-61D1-7A8B-3BBC-D44CE4E66BBE}"/>
              </a:ext>
            </a:extLst>
          </p:cNvPr>
          <p:cNvSpPr txBox="1"/>
          <p:nvPr/>
        </p:nvSpPr>
        <p:spPr>
          <a:xfrm>
            <a:off x="3038282" y="4960035"/>
            <a:ext cx="22875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ALITOVE DC 12V 5A Power Supply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5C425D-68E5-2AA5-011F-875F5BE51C42}"/>
              </a:ext>
            </a:extLst>
          </p:cNvPr>
          <p:cNvSpPr txBox="1"/>
          <p:nvPr/>
        </p:nvSpPr>
        <p:spPr>
          <a:xfrm>
            <a:off x="655498" y="5881807"/>
            <a:ext cx="16578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err="1"/>
              <a:t>HiLetgo</a:t>
            </a:r>
            <a:r>
              <a:rPr lang="en-US" sz="1200"/>
              <a:t> buck converter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75EE53B5-E675-8CA9-6E20-A03A9F4B8E2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81BA0FE-F9E0-2FF5-1B04-D4A6151BC385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4895F9-24D3-F2BC-02F4-E052183348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016" y="920070"/>
            <a:ext cx="6281511" cy="50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7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F564D8A-9569-12EC-5AE7-0EBCF3E6FBE0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E-Stop &amp; Protection Specifications</a:t>
            </a:r>
            <a:endParaRPr lang="en-US" sz="2800">
              <a:latin typeface="Georgia" panose="02040502050405020303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4A8C027-0D65-2815-2FC4-37EAE0A8E272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47348-80EC-D1E1-C3EB-3E8149C7A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713140"/>
            <a:ext cx="1660927" cy="1791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DAD483-08B1-5BF1-015D-DFADA1B9CF08}"/>
              </a:ext>
            </a:extLst>
          </p:cNvPr>
          <p:cNvSpPr txBox="1"/>
          <p:nvPr/>
        </p:nvSpPr>
        <p:spPr>
          <a:xfrm>
            <a:off x="502920" y="3520227"/>
            <a:ext cx="1795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E-stop mushroom button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951E9BC-3D54-3E2C-1AAD-7B6E55EB14F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7483E7-F2F5-DC0D-AE90-D1B167700C12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384012-8B3B-0E65-F378-F7B7A4E44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106" y="1455893"/>
            <a:ext cx="7685646" cy="23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5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E198C29-A68B-EAC2-E919-E490F5B26BF7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Processing Specifications</a:t>
            </a:r>
            <a:endParaRPr lang="en-US" sz="2800" b="1">
              <a:latin typeface="Georgia" panose="02040502050405020303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B15BB9A-5751-4133-6FD4-831CE0B526B0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E0419-98A8-11CC-29AE-5ECDD328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21" y="1123792"/>
            <a:ext cx="2295373" cy="13328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6CB5D3-C146-92C0-EF78-0D8DE2592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99" y="3708678"/>
            <a:ext cx="1353801" cy="13538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7125B6-60AB-88BA-FC8D-6F98DA9A1DFD}"/>
              </a:ext>
            </a:extLst>
          </p:cNvPr>
          <p:cNvSpPr txBox="1"/>
          <p:nvPr/>
        </p:nvSpPr>
        <p:spPr>
          <a:xfrm>
            <a:off x="786473" y="2607361"/>
            <a:ext cx="29979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STM32 Nucleo-F446RE microcontroller board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6D882-732C-ABAC-6FA4-73543B054DE9}"/>
              </a:ext>
            </a:extLst>
          </p:cNvPr>
          <p:cNvSpPr txBox="1"/>
          <p:nvPr/>
        </p:nvSpPr>
        <p:spPr>
          <a:xfrm>
            <a:off x="907781" y="5187088"/>
            <a:ext cx="27144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74HCT244 Octal Buffers and Line Drivers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54F6960-2BCF-B1E7-8DA7-D131A1F80A1F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439825-C714-FCE7-9BCC-0B346DF8F190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8A14E-836D-8FBE-134C-3828FE817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928915"/>
            <a:ext cx="6970485" cy="500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56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B5CF49-F220-F00A-7908-E1AA802157C0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Sensing </a:t>
            </a:r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167F65A-7402-36E3-0F79-D00DD355DBB7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9FEF4F-A836-F91A-8023-70FA5615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79" y="1109435"/>
            <a:ext cx="1308002" cy="18601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45A23E-31AC-D131-31F7-3B228863FC0B}"/>
              </a:ext>
            </a:extLst>
          </p:cNvPr>
          <p:cNvSpPr txBox="1"/>
          <p:nvPr/>
        </p:nvSpPr>
        <p:spPr>
          <a:xfrm>
            <a:off x="504379" y="3087090"/>
            <a:ext cx="1370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vl53l0x ToF sensor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7962FA3-E3D6-01C2-FF85-A57EAEF481F4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A6467F-9702-6B0C-495E-494B37635B57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E56779-ED30-962A-5A45-312D73272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565" y="1109435"/>
            <a:ext cx="7618639" cy="4929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C291C4-F1B9-A38D-9ACA-4E70054B7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32507"/>
            <a:ext cx="1308002" cy="1308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1A4B8D-F08C-C579-B6DD-DC1A611AA149}"/>
              </a:ext>
            </a:extLst>
          </p:cNvPr>
          <p:cNvSpPr txBox="1"/>
          <p:nvPr/>
        </p:nvSpPr>
        <p:spPr>
          <a:xfrm>
            <a:off x="606497" y="5758041"/>
            <a:ext cx="1204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Limit Switch</a:t>
            </a:r>
          </a:p>
        </p:txBody>
      </p:sp>
    </p:spTree>
    <p:extLst>
      <p:ext uri="{BB962C8B-B14F-4D97-AF65-F5344CB8AC3E}">
        <p14:creationId xmlns:p14="http://schemas.microsoft.com/office/powerpoint/2010/main" val="130474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E52F3F7-D0CD-3CFF-8FB6-FDA038FCE9E5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</a:t>
            </a:r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64EC645-9450-2EA4-4581-22F462FD2DFF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3B65F-09DF-48B1-6943-E447709F4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41" y="1399032"/>
            <a:ext cx="1671747" cy="13788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DDF5B2-1C20-9CFE-2BD9-508B4718DC3F}"/>
              </a:ext>
            </a:extLst>
          </p:cNvPr>
          <p:cNvSpPr txBox="1"/>
          <p:nvPr/>
        </p:nvSpPr>
        <p:spPr>
          <a:xfrm>
            <a:off x="516846" y="2775155"/>
            <a:ext cx="265210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NEMA 23 23HS22-2804S stepper motor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8DFC93-E537-B159-AF4C-9DC6E6813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8" y="3494341"/>
            <a:ext cx="1455531" cy="19162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698C4A-2FFC-4917-3D56-9925B256D7C2}"/>
              </a:ext>
            </a:extLst>
          </p:cNvPr>
          <p:cNvSpPr txBox="1"/>
          <p:nvPr/>
        </p:nvSpPr>
        <p:spPr>
          <a:xfrm>
            <a:off x="465093" y="5409205"/>
            <a:ext cx="19357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DM542TE stepper controller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3CE512F-B17A-251D-BBB1-B126D352D08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DE0FFCA-BF3D-410C-6F4E-34191813DF87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15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7C4FBE-AAA8-B6C9-F418-B46228F97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502" y="1040493"/>
            <a:ext cx="8204652" cy="46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47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6958ABB-AA37-C708-4E8C-0292A4968C2E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Communications </a:t>
            </a:r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88B718D-1145-7B20-1F6A-6914F054D48C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B298EB-9CD6-17FD-4B30-97F87974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91" y="2669082"/>
            <a:ext cx="2034774" cy="15896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8502FF-58E3-AF9F-C5C5-031411A17024}"/>
              </a:ext>
            </a:extLst>
          </p:cNvPr>
          <p:cNvSpPr txBox="1"/>
          <p:nvPr/>
        </p:nvSpPr>
        <p:spPr>
          <a:xfrm>
            <a:off x="926716" y="4377732"/>
            <a:ext cx="17387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W5500 Ethernet module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385F9F8A-6F16-C717-7A69-92FF7EFAB3B8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5093DB-876D-8668-5BEB-CE99BA87499E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16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D50CE8-0A70-6CBB-FD65-8FEB21D32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711" y="1319213"/>
            <a:ext cx="7219950" cy="41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30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4B9977A-FFF2-605A-1B9C-854E8FA2D21C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Effector </a:t>
            </a:r>
            <a:r>
              <a:rPr lang="en-US" sz="2800" b="1">
                <a:solidFill>
                  <a:srgbClr val="28251D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7B31A01-6903-D3C7-B74C-0C774A25354F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12F73-9711-2EE1-CF6B-E6D63A5D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105" y="919164"/>
            <a:ext cx="1595405" cy="13789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3D5E29-83FA-E812-2B2A-87CD47C53691}"/>
              </a:ext>
            </a:extLst>
          </p:cNvPr>
          <p:cNvSpPr txBox="1"/>
          <p:nvPr/>
        </p:nvSpPr>
        <p:spPr>
          <a:xfrm>
            <a:off x="1188720" y="2300816"/>
            <a:ext cx="2484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err="1"/>
              <a:t>Baomain</a:t>
            </a:r>
            <a:r>
              <a:rPr lang="en-US" sz="1200"/>
              <a:t> BM-P 80-38 electromagnet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22691F79-2B76-BF1D-D361-7F5096B9E88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405D30-CE8C-2113-0168-742937E83980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17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8E4D26-3A1B-FC51-0895-34EA91F81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166" y="978408"/>
            <a:ext cx="6373906" cy="54517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7BEDC6-D296-463D-94BA-DAA94CEEE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07" y="4878808"/>
            <a:ext cx="1595405" cy="11294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F70B6E-DD3D-83BC-C839-4C350C33DCC3}"/>
              </a:ext>
            </a:extLst>
          </p:cNvPr>
          <p:cNvSpPr txBox="1"/>
          <p:nvPr/>
        </p:nvSpPr>
        <p:spPr>
          <a:xfrm>
            <a:off x="1665311" y="6029685"/>
            <a:ext cx="704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MOSFET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7E395F-3A00-4668-9B44-803065B7939D}"/>
              </a:ext>
            </a:extLst>
          </p:cNvPr>
          <p:cNvSpPr txBox="1"/>
          <p:nvPr/>
        </p:nvSpPr>
        <p:spPr>
          <a:xfrm>
            <a:off x="1220107" y="4245554"/>
            <a:ext cx="15954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/>
              <a:t>1N4007 Flyback Diode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309BE0-4235-BC2E-E814-BFB63B7F5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107" y="2894442"/>
            <a:ext cx="1595405" cy="12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66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/>
                <a:ea typeface="Georgia" pitchFamily="34" charset="-122"/>
                <a:cs typeface="Georgia" pitchFamily="34" charset="-120"/>
              </a:rPr>
              <a:t>Detailed Block Diagram</a:t>
            </a:r>
            <a:endParaRPr lang="en-US" sz="2800">
              <a:latin typeface="Georgia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72CB4-3FAA-8F47-038A-81D85443A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08" y="971092"/>
            <a:ext cx="8267336" cy="57120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Mechanical Architecture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i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standard commercial extrusion and linear-motion components — no custom machining required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73152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77240" y="186218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777240" y="213650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4040 T-slot aluminum extrusion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777240" y="2359427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beam, vertical column, supporting legs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548640" y="2712720"/>
            <a:ext cx="73152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777240" y="265466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Drive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292898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Timing belt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" y="314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Converts stepper rotation to fast linear travel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489960"/>
            <a:ext cx="73152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777240" y="343190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Drive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777240" y="3706223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Leadscrew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3939553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33333"/>
                </a:solidFill>
                <a:ea typeface="+mn-lt"/>
                <a:cs typeface="+mn-lt"/>
              </a:rPr>
              <a:t>Converts stepper rotation to precise linear travel </a:t>
            </a:r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583680" y="1188720"/>
            <a:ext cx="5029200" cy="438912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676656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Dimensions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8580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size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941832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× 60 × 80 cm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8580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travel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941832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≈100 cm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68580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travel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941832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 cm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685800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envelope</a:t>
            </a:r>
            <a:endParaRPr lang="en-US" sz="1600"/>
          </a:p>
        </p:txBody>
      </p:sp>
      <p:sp>
        <p:nvSpPr>
          <p:cNvPr id="37" name="Text 35"/>
          <p:cNvSpPr/>
          <p:nvPr/>
        </p:nvSpPr>
        <p:spPr>
          <a:xfrm>
            <a:off x="94183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30 × 30 cm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68580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above bath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941832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 cm</a:t>
            </a:r>
            <a:endParaRPr lang="en-US" sz="1600"/>
          </a:p>
        </p:txBody>
      </p:sp>
      <p:sp>
        <p:nvSpPr>
          <p:cNvPr id="40" name="Text 38"/>
          <p:cNvSpPr/>
          <p:nvPr/>
        </p:nvSpPr>
        <p:spPr>
          <a:xfrm>
            <a:off x="68580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workpiece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941832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10 cm</a:t>
            </a:r>
            <a:endParaRPr lang="en-US" sz="1600"/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B2DAEECF-C30A-D718-6001-CC961CE324F3}"/>
              </a:ext>
            </a:extLst>
          </p:cNvPr>
          <p:cNvSpPr/>
          <p:nvPr/>
        </p:nvSpPr>
        <p:spPr>
          <a:xfrm>
            <a:off x="548639" y="4310742"/>
            <a:ext cx="73152" cy="64008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2" name="Text 23">
            <a:extLst>
              <a:ext uri="{FF2B5EF4-FFF2-40B4-BE49-F238E27FC236}">
                <a16:creationId xmlns:a16="http://schemas.microsoft.com/office/drawing/2014/main" id="{DE5F4674-67A1-3277-B9AA-F871675D6964}"/>
              </a:ext>
            </a:extLst>
          </p:cNvPr>
          <p:cNvSpPr/>
          <p:nvPr/>
        </p:nvSpPr>
        <p:spPr>
          <a:xfrm>
            <a:off x="777239" y="425268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Guides</a:t>
            </a:r>
            <a:endParaRPr lang="en-US" sz="160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07A40C59-BBE8-0CBB-5289-864190AA95E2}"/>
              </a:ext>
            </a:extLst>
          </p:cNvPr>
          <p:cNvSpPr/>
          <p:nvPr/>
        </p:nvSpPr>
        <p:spPr>
          <a:xfrm>
            <a:off x="777239" y="4527005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Linear rails + carriages</a:t>
            </a:r>
            <a:endParaRPr lang="en-US"/>
          </a:p>
        </p:txBody>
      </p:sp>
      <p:sp>
        <p:nvSpPr>
          <p:cNvPr id="44" name="Text 25">
            <a:extLst>
              <a:ext uri="{FF2B5EF4-FFF2-40B4-BE49-F238E27FC236}">
                <a16:creationId xmlns:a16="http://schemas.microsoft.com/office/drawing/2014/main" id="{2AF20C2F-20B3-44A5-B635-CA7E9B3499DF}"/>
              </a:ext>
            </a:extLst>
          </p:cNvPr>
          <p:cNvSpPr/>
          <p:nvPr/>
        </p:nvSpPr>
        <p:spPr>
          <a:xfrm>
            <a:off x="777239" y="4755605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Smooth movement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Distribution &amp; Budget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Voltage Rails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30352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822960" cy="6858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48V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6459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motors + drivers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164592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Well LRS-350-48 (7.3A, 350W)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30352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822960" cy="6858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64592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 + low-voltage circuitry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64592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ALITOVE DC 12V 5A (60W)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303520" cy="105156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9" name="Shape 17"/>
          <p:cNvSpPr/>
          <p:nvPr/>
        </p:nvSpPr>
        <p:spPr>
          <a:xfrm>
            <a:off x="685800" y="4206240"/>
            <a:ext cx="822960" cy="685800"/>
          </a:xfrm>
          <a:prstGeom prst="rect">
            <a:avLst/>
          </a:prstGeom>
          <a:solidFill>
            <a:srgbClr val="437A2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685800" y="42062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64592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module + sensors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HiLetgo buck converter (XL4016, 12V→5V)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6400800" y="1188720"/>
            <a:ext cx="5303520" cy="4389120"/>
          </a:xfrm>
          <a:prstGeom prst="rect">
            <a:avLst/>
          </a:prstGeom>
          <a:solidFill>
            <a:srgbClr val="F9F8F5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6583680" y="1325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 Summary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6675120" y="1920240"/>
            <a:ext cx="475488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676656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96012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6675120" y="242316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676656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(motors)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960120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268.8 W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6675120" y="292608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6766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(drivers)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960120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W</a:t>
            </a:r>
            <a:endParaRPr lang="en-US" sz="1600"/>
          </a:p>
        </p:txBody>
      </p:sp>
      <p:sp>
        <p:nvSpPr>
          <p:cNvPr id="34" name="Shape 32"/>
          <p:cNvSpPr/>
          <p:nvPr/>
        </p:nvSpPr>
        <p:spPr>
          <a:xfrm>
            <a:off x="6675120" y="342900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6766560" y="3429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Effector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960120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26.88 W</a:t>
            </a:r>
            <a:endParaRPr lang="en-US" sz="1600"/>
          </a:p>
        </p:txBody>
      </p:sp>
      <p:sp>
        <p:nvSpPr>
          <p:cNvPr id="37" name="Shape 35"/>
          <p:cNvSpPr/>
          <p:nvPr/>
        </p:nvSpPr>
        <p:spPr>
          <a:xfrm>
            <a:off x="6675120" y="3931920"/>
            <a:ext cx="4754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67665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+ Comms + Processing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960120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W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6675120" y="4434840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6766560" y="4434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Operational</a:t>
            </a:r>
            <a:endParaRPr lang="en-US" sz="1600"/>
          </a:p>
        </p:txBody>
      </p:sp>
      <p:sp>
        <p:nvSpPr>
          <p:cNvPr id="42" name="Text 40"/>
          <p:cNvSpPr/>
          <p:nvPr/>
        </p:nvSpPr>
        <p:spPr>
          <a:xfrm>
            <a:off x="9601200" y="4434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346 W</a:t>
            </a:r>
            <a:endParaRPr lang="en-US" sz="1600"/>
          </a:p>
        </p:txBody>
      </p:sp>
      <p:sp>
        <p:nvSpPr>
          <p:cNvPr id="43" name="Shape 41"/>
          <p:cNvSpPr/>
          <p:nvPr/>
        </p:nvSpPr>
        <p:spPr>
          <a:xfrm>
            <a:off x="6675120" y="4937760"/>
            <a:ext cx="47548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D4D1CA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6766560" y="4937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(adapters)</a:t>
            </a:r>
            <a:endParaRPr lang="en-US" sz="1600"/>
          </a:p>
        </p:txBody>
      </p:sp>
      <p:sp>
        <p:nvSpPr>
          <p:cNvPr id="45" name="Text 43"/>
          <p:cNvSpPr/>
          <p:nvPr/>
        </p:nvSpPr>
        <p:spPr>
          <a:xfrm>
            <a:off x="9601200" y="4937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410 W</a:t>
            </a:r>
            <a:endParaRPr 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1CBF2D55-83FC-DDC6-0257-F6049B99AFE4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</a:rPr>
              <a:t>Monetary Budget</a:t>
            </a: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68BDFC0-D8FA-4DF8-39F5-9D0A34B1CB50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3A54CC6-9517-C134-DD5F-45D862EE2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459642"/>
              </p:ext>
            </p:extLst>
          </p:nvPr>
        </p:nvGraphicFramePr>
        <p:xfrm>
          <a:off x="502920" y="1158765"/>
          <a:ext cx="7016766" cy="5464876"/>
        </p:xfrm>
        <a:graphic>
          <a:graphicData uri="http://schemas.openxmlformats.org/drawingml/2006/table">
            <a:tbl>
              <a:tblPr/>
              <a:tblGrid>
                <a:gridCol w="2886666">
                  <a:extLst>
                    <a:ext uri="{9D8B030D-6E8A-4147-A177-3AD203B41FA5}">
                      <a16:colId xmlns:a16="http://schemas.microsoft.com/office/drawing/2014/main" val="3758001653"/>
                    </a:ext>
                  </a:extLst>
                </a:gridCol>
                <a:gridCol w="1485781">
                  <a:extLst>
                    <a:ext uri="{9D8B030D-6E8A-4147-A177-3AD203B41FA5}">
                      <a16:colId xmlns:a16="http://schemas.microsoft.com/office/drawing/2014/main" val="1048911578"/>
                    </a:ext>
                  </a:extLst>
                </a:gridCol>
                <a:gridCol w="1465094">
                  <a:extLst>
                    <a:ext uri="{9D8B030D-6E8A-4147-A177-3AD203B41FA5}">
                      <a16:colId xmlns:a16="http://schemas.microsoft.com/office/drawing/2014/main" val="3042960899"/>
                    </a:ext>
                  </a:extLst>
                </a:gridCol>
                <a:gridCol w="1179225">
                  <a:extLst>
                    <a:ext uri="{9D8B030D-6E8A-4147-A177-3AD203B41FA5}">
                      <a16:colId xmlns:a16="http://schemas.microsoft.com/office/drawing/2014/main" val="1244578231"/>
                    </a:ext>
                  </a:extLst>
                </a:gridCol>
              </a:tblGrid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Generic Name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Component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Price per Unit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Price total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807051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Single Output Switchable Power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Mean Well LRS-350-48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$35.06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$35.06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95613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Microcontroler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STM32 NUCLEO-F446RE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$31.00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$31.00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219377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4‑channel digital buffer/line driver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SN74AHCT125N Quadruple Buffer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$0.80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$0.80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236007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Stepper Motor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3HS22-2804S Nema 23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$13.37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$26.74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185843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Stepper </a:t>
                      </a:r>
                      <a:r>
                        <a:rPr lang="en-US" sz="600" b="0" i="0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Controler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DM542TE Stepper Controller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$21.00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$42.00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246126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Ethernet Module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W5500 Ethernet LAN Network Module Support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$6.50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$6.50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357861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E-Stop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1NC 1NO Red Mushroom Emergency Stop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$9.99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45617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Transformer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ALITOVE Power Supply Adapter Converter Transformer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$14.00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$14.00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054071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Buck Converter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LM2596 DC a DC Buck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$1.60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$1.60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707796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 Magnet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Electromagnet Solenoid BM-P 80-38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$44.98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$44.98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977294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Proximity Laser Sensor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VL53L0X ToF sensor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$2.98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$2.98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345744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Shaft Coupler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Shaft coupler (6.35x8mm)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$11.99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49313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Limit Switch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HiLetgo Micro Interruptor de Límite KW12-3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$0.60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$0.60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34460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Rail Guide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MGN12H 300mm Linear Rail Guide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$18.00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$35.99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50340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Lead Screw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Tr8x2 Lead Screw (300mm)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$11.99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$11.99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450687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Bearings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Pillow Block Bearing 4Pcs, 5/16" (8mm)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$2.12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$8.49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678719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Guide Rails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Linear Rail Slide SBR20-800mm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$22.45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$44.90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84209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Belt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3D Printing GT2 Timing Belt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$16.88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$16.88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9026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Aluminum Beams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4040 T-Slot Extruded Aluminum Profile 1000mm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$20.00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$79.99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02441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Relay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One Channel Relay Module Relay Switch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$3.70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$7.39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386892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Buzzer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Gikfun Terminals Passive Electronic Buzzer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$0.90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$1.80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33498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MOSFET Transistor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RLZ44N IRLZ44 MOSFET Transistors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$4.00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575773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Terminal Block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Glarks Terminal Block Set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$0.13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$0.26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59901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Flyback Diode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BOJACK 1N4007 Rectifier Diode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$0.05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$0.05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47276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Wires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 AWG Stranded Wire Spool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$12.29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$12.29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644536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Cable Wrap Insulation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Eventronic Heat Shrink Tubing 2:1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4312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Fuse Holder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FEBRYTOLD 0 Gauge Inline Fuse Holder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$4.25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$4.25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8816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Resistors kit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Upvivi Resistor Assortment Kit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64955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T-nuts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4040 Series T Sliding Nuts Hammer Nut Block Square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$0.67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$9.99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875693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Bolt and Nuts Kit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Button Head Socket Cap Screws Bolts Nuts Kit M5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$16.99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541509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Motor Mounting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Nema 23 Stepper Motor Steel Mounting Bracket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$3.00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$11.99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617911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Nut Block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Lysee 3D Printer Parts &amp; Accessories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$10.10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$20.19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248440"/>
                  </a:ext>
                </a:extLst>
              </a:tr>
              <a:tr h="1556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Converyor Belt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DC 12V Electric Desktop Conveyor Belt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$99.51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$99.51 </a:t>
                      </a:r>
                    </a:p>
                  </a:txBody>
                  <a:tcPr marL="3699" marR="3699" marT="3699" marB="26632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562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AD2F99B-26BA-99E7-34D0-B0499D23A8EC}"/>
              </a:ext>
            </a:extLst>
          </p:cNvPr>
          <p:cNvSpPr txBox="1"/>
          <p:nvPr/>
        </p:nvSpPr>
        <p:spPr>
          <a:xfrm>
            <a:off x="7901651" y="1088020"/>
            <a:ext cx="397397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ea typeface="Calibri"/>
                <a:cs typeface="Calibri"/>
              </a:rPr>
              <a:t>Total without conveyor: </a:t>
            </a:r>
            <a:r>
              <a:rPr lang="en-US" sz="1600" b="1">
                <a:highlight>
                  <a:srgbClr val="FFFF00"/>
                </a:highlight>
                <a:ea typeface="Calibri"/>
                <a:cs typeface="Calibri"/>
              </a:rPr>
              <a:t>$525.37</a:t>
            </a:r>
            <a:endParaRPr lang="en-US" sz="1600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r>
              <a:rPr lang="en-US" sz="1600" b="1"/>
              <a:t>Total with conveyor (before tax): </a:t>
            </a:r>
            <a:r>
              <a:rPr lang="en-US" sz="1600" b="1">
                <a:highlight>
                  <a:srgbClr val="FFFF00"/>
                </a:highlight>
              </a:rPr>
              <a:t>$624.88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5F526F-40BC-124A-BCF3-14C6E246C48C}"/>
              </a:ext>
            </a:extLst>
          </p:cNvPr>
          <p:cNvSpPr txBox="1"/>
          <p:nvPr/>
        </p:nvSpPr>
        <p:spPr>
          <a:xfrm>
            <a:off x="7901651" y="2165238"/>
            <a:ext cx="35630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/>
              <a:t>Other Products:</a:t>
            </a:r>
          </a:p>
          <a:p>
            <a:endParaRPr lang="en-US" sz="1600" b="1"/>
          </a:p>
          <a:p>
            <a:r>
              <a:rPr lang="en-US" sz="1600" b="1"/>
              <a:t>- Dip-Spin (EFFCO DS-250) </a:t>
            </a:r>
            <a:r>
              <a:rPr lang="en-US" sz="1600"/>
              <a:t>est. $15k–$25k</a:t>
            </a:r>
            <a:r>
              <a:rPr lang="en-US" sz="1600" b="1"/>
              <a:t> </a:t>
            </a:r>
          </a:p>
          <a:p>
            <a:endParaRPr lang="en-US" sz="1600" b="1"/>
          </a:p>
          <a:p>
            <a:r>
              <a:rPr lang="en-US" sz="1600" b="1"/>
              <a:t>- MS800 Tiltable Dip-Spin </a:t>
            </a:r>
            <a:r>
              <a:rPr lang="en-US" sz="1600"/>
              <a:t>est. $40k–$80k</a:t>
            </a:r>
          </a:p>
          <a:p>
            <a:endParaRPr lang="en-US" sz="1600" b="1"/>
          </a:p>
          <a:p>
            <a:r>
              <a:rPr lang="en-US" sz="1600" b="1"/>
              <a:t>- </a:t>
            </a:r>
            <a:r>
              <a:rPr lang="en-US" sz="1600" b="1" err="1"/>
              <a:t>Emmeti</a:t>
            </a:r>
            <a:r>
              <a:rPr lang="en-US" sz="1600" b="1"/>
              <a:t> WAX-ON </a:t>
            </a:r>
            <a:r>
              <a:rPr lang="en-US" sz="1600"/>
              <a:t>est. $50k $150k+</a:t>
            </a:r>
            <a:endParaRPr lang="en-US" sz="1600" b="1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67874DE9-9C3B-1039-50E2-AE1989FE1722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18C1452-C0AC-ADA9-388A-895144F89084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61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Architecture: Cooperative &amp; Nonblocking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029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5029200" y="1645920"/>
            <a:ext cx="73152" cy="9144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25780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Nonblocking Design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5257800" y="19659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Each module performs bounded work and returns immediately.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No blocking while waiting for operations to finish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0" y="2697480"/>
            <a:ext cx="73152" cy="9144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5257800" y="2697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Multitasking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5257800" y="3017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 steps: sequencer → movement → effector → timers → communications</a:t>
            </a:r>
            <a:endParaRPr lang="en-US" sz="1600"/>
          </a:p>
        </p:txBody>
      </p:sp>
      <p:sp>
        <p:nvSpPr>
          <p:cNvPr id="15" name="Shape 12"/>
          <p:cNvSpPr/>
          <p:nvPr/>
        </p:nvSpPr>
        <p:spPr>
          <a:xfrm>
            <a:off x="5029200" y="3749040"/>
            <a:ext cx="73152" cy="914400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5257800" y="3749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5257800" y="4069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Sequencer does not directly manipulate timer registers, GPIO, or step counts. The different modules do.</a:t>
            </a:r>
            <a:endParaRPr lang="en-US" sz="1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78C49-2086-9999-8562-307F13F2D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01" y="1043834"/>
            <a:ext cx="3212790" cy="56784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413A-986E-99D1-68B5-ABD91C7A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648AF4-8C67-B2C4-F103-27C2D085D898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E56FB5-F7B8-8DC6-3A16-3853A84D3190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/>
              </a:rPr>
              <a:t>E-stop and Sequencer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A84DE2C-97C3-C97C-277A-8F793120DC2C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AA471B-4A2C-5C59-CB9D-FC635CDBA430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7234E-D5E7-2527-38E9-2B528563B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49" y="1659698"/>
            <a:ext cx="4507446" cy="354904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046960-C7F0-65EB-FA53-D34F10AB0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923" y="302711"/>
            <a:ext cx="5839633" cy="626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2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C4E81-9098-E586-6F74-B530A6B0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965919-D5B4-1748-56EA-762E8F1C7386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EAC74E-1A8F-AEE2-5CBE-E553ECF1A061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28251D"/>
                </a:solidFill>
                <a:latin typeface="Georgia"/>
              </a:rPr>
              <a:t>Instruction Start and Instruction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2F656FA-8553-DE4C-3F27-97293B854ACB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6271F2F-F753-7710-F9E4-2E830B6C337D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4519D5-716B-538E-74EF-815D251F0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72" y="1064712"/>
            <a:ext cx="4952653" cy="53966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97478D-3D6A-240B-CBEE-9C948A07F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69" y="1064712"/>
            <a:ext cx="4952652" cy="539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70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/>
                <a:ea typeface="Georgia" pitchFamily="34" charset="-122"/>
                <a:cs typeface="Georgia" pitchFamily="34" charset="-120"/>
              </a:rPr>
              <a:t>Preliminary: Modbus TCP Communications</a:t>
            </a:r>
            <a:endParaRPr lang="en-US" sz="280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25035" t="6077" r="21834" b="6535"/>
          <a:stretch>
            <a:fillRect/>
          </a:stretch>
        </p:blipFill>
        <p:spPr>
          <a:xfrm>
            <a:off x="1180837" y="978408"/>
            <a:ext cx="5141135" cy="54360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Validated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49808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Portable Modbus server library in C with no dynamic allocation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98080" y="23042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Supports coils, discrete inputs, input registers, and holding registers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498080" y="3001921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W5500 manages Ethernet/TCP sockets; STM32 polls via SPI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7498080" y="3660289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tested: read-coils, write-single-coil, write-multiple-coils</a:t>
            </a:r>
            <a:endParaRPr lang="en-US"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/>
                <a:ea typeface="Georgia" pitchFamily="34" charset="-122"/>
                <a:cs typeface="Georgia" pitchFamily="34" charset="-120"/>
              </a:rPr>
              <a:t>Preliminary: Stepper-Motor Signal Generation</a:t>
            </a:r>
            <a:endParaRPr lang="en-US" sz="2800">
              <a:latin typeface="Georgia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TIM2 Output Compare Mode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Timer peripheral controls output transitions, not the main loop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3911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Changing the </a:t>
            </a:r>
            <a:r>
              <a:rPr lang="en-US" sz="1600" err="1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half_period</a:t>
            </a:r>
            <a:r>
              <a:rPr lang="en-US" sz="1600">
                <a:solidFill>
                  <a:srgbClr val="28251D"/>
                </a:solidFill>
                <a:latin typeface="Calibri"/>
                <a:ea typeface="Calibri"/>
                <a:cs typeface="Calibri"/>
              </a:rPr>
              <a:t> changes the Pulse Train Output frequency without software delays or blocking loops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45" name="Text 4">
            <a:extLst>
              <a:ext uri="{FF2B5EF4-FFF2-40B4-BE49-F238E27FC236}">
                <a16:creationId xmlns:a16="http://schemas.microsoft.com/office/drawing/2014/main" id="{953B38E9-D9E2-4CD4-5B63-5F46FE61F3FA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999999"/>
                </a:solidFill>
                <a:latin typeface="Calibri"/>
                <a:ea typeface="Calibri"/>
                <a:cs typeface="Calibri"/>
              </a:rPr>
              <a:t>26</a:t>
            </a:r>
            <a:endParaRPr lang="en-US" sz="16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A60A1E3-23C4-CE2C-EAF3-041731A39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055" y="921656"/>
            <a:ext cx="5732118" cy="5014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3133B-8183-8FA6-E3EA-EA52C404E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9" y="3499971"/>
            <a:ext cx="5704355" cy="245016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889AF9-77EC-7548-29CD-09B60FC238A4}"/>
              </a:ext>
            </a:extLst>
          </p:cNvPr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/>
                <a:ea typeface="Georgia" pitchFamily="34" charset="-122"/>
                <a:cs typeface="Georgia" pitchFamily="34" charset="-120"/>
              </a:rPr>
              <a:t>Gantt Chart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D714C7D-6AFE-DE31-8AA9-FF19604ED91C}"/>
              </a:ext>
            </a:extLst>
          </p:cNvPr>
          <p:cNvSpPr/>
          <p:nvPr/>
        </p:nvSpPr>
        <p:spPr>
          <a:xfrm>
            <a:off x="502920" y="804672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0CFAB-F126-24F5-3CD5-E4B7353B9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3" r="1898" b="5499"/>
          <a:stretch>
            <a:fillRect/>
          </a:stretch>
        </p:blipFill>
        <p:spPr>
          <a:xfrm>
            <a:off x="2069540" y="841248"/>
            <a:ext cx="8412480" cy="5859097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E1B02FCB-60E5-CB75-E929-749B16C73E63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CB261C1-7576-7FAB-2239-19E4EB30074B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913761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Safe Dip Achieves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18496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operator from hazardous hot-dip environment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4047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Two-axis Cartesian gantry with controlled pick-dip-place cycle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548640" y="35150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Category 0 E-stop with load-holding magnet design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0701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+ serial communications for monitoring and control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548640" y="29599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Lower-cost, modular alternative to industrial robotic systems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protection for heated bath operation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physical enclosure with interlocked access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Electro-permanent magnet for fail-safe load retention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battery on electromagnet rail for total power loss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3808476" y="5303520"/>
            <a:ext cx="4572000" cy="18288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8A3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Bouchard  |  Adriano Mena |  Supervised by Mayra Socarras</a:t>
            </a:r>
            <a:endParaRPr lang="en-US" sz="160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F9ED3D9D-BABD-DF7B-DE9A-F76BDE17AF83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56F495FF-59D4-765D-9D85-868E87817B2F}"/>
              </a:ext>
            </a:extLst>
          </p:cNvPr>
          <p:cNvSpPr/>
          <p:nvPr/>
        </p:nvSpPr>
        <p:spPr>
          <a:xfrm>
            <a:off x="457200" y="325056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82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References:</a:t>
            </a:r>
            <a:endParaRPr lang="en-US" sz="280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987D76E-9D75-9CE5-8A76-61D89A681FF1}"/>
              </a:ext>
            </a:extLst>
          </p:cNvPr>
          <p:cNvSpPr/>
          <p:nvPr/>
        </p:nvSpPr>
        <p:spPr>
          <a:xfrm>
            <a:off x="502920" y="934965"/>
            <a:ext cx="1371600" cy="36576"/>
          </a:xfrm>
          <a:prstGeom prst="rect">
            <a:avLst/>
          </a:prstGeom>
          <a:solidFill>
            <a:srgbClr val="E8A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257D0-4048-D753-078D-C6F8B4790417}"/>
              </a:ext>
            </a:extLst>
          </p:cNvPr>
          <p:cNvSpPr txBox="1"/>
          <p:nvPr/>
        </p:nvSpPr>
        <p:spPr>
          <a:xfrm>
            <a:off x="457200" y="1094629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[1]“What is Hot Melt Wax Coating for Tools?,” Jul. 13, 2022, Dip Seal Plastics, Inc. Accessed: Jun. 25, 2026. [Online]. Available: https://www.dipseal.com/plastic-dipped-parts-tools and-corner/what-is-hot-melt-wax-coating-for-tools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FE9F82-977E-C9FE-A252-65200DA1CB0B}"/>
              </a:ext>
            </a:extLst>
          </p:cNvPr>
          <p:cNvSpPr txBox="1"/>
          <p:nvPr/>
        </p:nvSpPr>
        <p:spPr>
          <a:xfrm>
            <a:off x="502920" y="1916173"/>
            <a:ext cx="6097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[2] D. </a:t>
            </a:r>
            <a:r>
              <a:rPr lang="en-US" sz="1200" err="1"/>
              <a:t>Dominessy</a:t>
            </a:r>
            <a:r>
              <a:rPr lang="en-US" sz="1200"/>
              <a:t>, “End Mill Hot-Dip Wax Coating.” Accessed: Jun. 25, 2026. [Online]. Available: https://www.youtube.com/watch?v=gGHxNu6oPSY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2D5435-A3FB-F8B7-093C-F0468E6BC6D6}"/>
              </a:ext>
            </a:extLst>
          </p:cNvPr>
          <p:cNvSpPr txBox="1"/>
          <p:nvPr/>
        </p:nvSpPr>
        <p:spPr>
          <a:xfrm>
            <a:off x="502920" y="2553051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[3] “What is the difference between Stop Category 0, Stop Category 1 and Stop Category 2?,” Feb. 28, 2014, Schneider Electric. Accessed: Jul. 05, 2026. [Online]. Available: https:// www.se.com/eg/en/faqs/FA225420/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5E96CF-E1AC-3921-2192-7268BD28C076}"/>
              </a:ext>
            </a:extLst>
          </p:cNvPr>
          <p:cNvSpPr txBox="1"/>
          <p:nvPr/>
        </p:nvSpPr>
        <p:spPr>
          <a:xfrm>
            <a:off x="502920" y="3369028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[4] “Safety of machinery — Electrical equipment of machines — Part 1: General requirements,” International Electrotechnical Commission, IEC 60204-1:2016+A1:2021, Sep. 2021. Accessed: Jul. 20, 2026. [Online]. Available: https://webstore.iec.ch/en/ publication/71256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59E8DE-AED6-F62E-5280-6CD4F8941F8F}"/>
              </a:ext>
            </a:extLst>
          </p:cNvPr>
          <p:cNvSpPr txBox="1"/>
          <p:nvPr/>
        </p:nvSpPr>
        <p:spPr>
          <a:xfrm>
            <a:off x="502920" y="4185005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[5] “Thrust generation principle of a linear lead screw motor,” MOONS' Industries. Accessed: Jun. 25, 2026. [Online]. Available: https://www.moonsindustries.com/article/thrust generation-principle-linear-lead-screw-motor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26CC93-212B-7FC0-8CF8-9E0259A36643}"/>
              </a:ext>
            </a:extLst>
          </p:cNvPr>
          <p:cNvSpPr txBox="1"/>
          <p:nvPr/>
        </p:nvSpPr>
        <p:spPr>
          <a:xfrm>
            <a:off x="502920" y="5000982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[6] IQS Directory Editorial Team, “Lead Screws: What Is It?, How It Works, Types, and Advantages,” Jun. 16, 2026. Accessed: Jun. 26, 2026. [Online]. Available: https://www. iqsdirectory.com/articles/ball-screw/lead-screws.html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5C308-D26A-5ED4-6408-50916144EFEC}"/>
              </a:ext>
            </a:extLst>
          </p:cNvPr>
          <p:cNvSpPr txBox="1"/>
          <p:nvPr/>
        </p:nvSpPr>
        <p:spPr>
          <a:xfrm>
            <a:off x="502920" y="5816959"/>
            <a:ext cx="6097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[7] </a:t>
            </a:r>
            <a:r>
              <a:rPr lang="en-US" sz="1200" err="1"/>
              <a:t>RipInPease</a:t>
            </a:r>
            <a:r>
              <a:rPr lang="en-US" sz="1200"/>
              <a:t>, “</a:t>
            </a:r>
            <a:r>
              <a:rPr lang="en-US" sz="1200" err="1"/>
              <a:t>madbus</a:t>
            </a:r>
            <a:r>
              <a:rPr lang="en-US" sz="1200"/>
              <a:t>-cli: A </a:t>
            </a:r>
            <a:r>
              <a:rPr lang="en-US" sz="1200" err="1"/>
              <a:t>modbus</a:t>
            </a:r>
            <a:r>
              <a:rPr lang="en-US" sz="1200"/>
              <a:t> tui using the </a:t>
            </a:r>
            <a:r>
              <a:rPr lang="en-US" sz="1200" err="1"/>
              <a:t>madbus</a:t>
            </a:r>
            <a:r>
              <a:rPr lang="en-US" sz="1200"/>
              <a:t> crate,” Mar. 18, 2026. Accessed: Jul. 04, 2026. [Online]. Available: https://lib.rs/crates/madbus-cli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3BFEA-C7D8-D9B6-41B9-C309BBC4EE73}"/>
              </a:ext>
            </a:extLst>
          </p:cNvPr>
          <p:cNvSpPr txBox="1"/>
          <p:nvPr/>
        </p:nvSpPr>
        <p:spPr>
          <a:xfrm>
            <a:off x="6600234" y="1089062"/>
            <a:ext cx="5357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[8] “EFFCO DS-250 Dip-Spin Coating Machine.” Accessed: Jul. 20, 2026. [Online]. Available: https://www.aramfix.com/product/effco-ds-250-dip-spin-coating-machine 250mm-basketxlxwxh-1500x1500x1890mm-steel-alloy-blue-1-pce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EF66A-0661-6599-F354-109CD6771387}"/>
              </a:ext>
            </a:extLst>
          </p:cNvPr>
          <p:cNvSpPr txBox="1"/>
          <p:nvPr/>
        </p:nvSpPr>
        <p:spPr>
          <a:xfrm>
            <a:off x="6600233" y="1818273"/>
            <a:ext cx="5357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[9] “MS800 Automatic Tiltable Dip-Spin Coating Machine.” Accessed: Jul. 20, 2026. [On line]. Available: https://www.shishengst.com/shisheng-group-sale-ms800-automatic tiltable-dip-spin-coating-machine.html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B5978-3104-9990-38EE-5003FBC0680D}"/>
              </a:ext>
            </a:extLst>
          </p:cNvPr>
          <p:cNvSpPr txBox="1"/>
          <p:nvPr/>
        </p:nvSpPr>
        <p:spPr>
          <a:xfrm>
            <a:off x="6600234" y="2634250"/>
            <a:ext cx="5357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[10] “TH-2004L3 Thread Coating Machine.” Accessed: Jul. 20, 2026. [Online]. Avail able: https://www.tianhaodispensing.com/products/coating-machine/thread-coating machin-TH-2004L3-D.html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AFC7A2-CBAA-CDE7-8377-5603E14BF4C5}"/>
              </a:ext>
            </a:extLst>
          </p:cNvPr>
          <p:cNvSpPr txBox="1"/>
          <p:nvPr/>
        </p:nvSpPr>
        <p:spPr>
          <a:xfrm>
            <a:off x="6600234" y="3361780"/>
            <a:ext cx="5357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[11] “Automatic Thread Coating Machine.” Accessed: Jul. 20, 2026. [Online]. Avail able: https://www.tianhaodispensing.com/products/coating-machine/thread-coating machine-automatic.html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1B38D5-CCFD-283F-443A-A5C1F2E2944A}"/>
              </a:ext>
            </a:extLst>
          </p:cNvPr>
          <p:cNvSpPr txBox="1"/>
          <p:nvPr/>
        </p:nvSpPr>
        <p:spPr>
          <a:xfrm>
            <a:off x="6600234" y="4115107"/>
            <a:ext cx="5357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[12] “Custom Automation and Specialty Equipment.” Accessed: Jul. 20, 2026. [Online]. Available: https://southshorecontrols.com/specialty-equipment/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580579-93C9-54C9-D0ED-FB22FA7A3096}"/>
              </a:ext>
            </a:extLst>
          </p:cNvPr>
          <p:cNvSpPr txBox="1"/>
          <p:nvPr/>
        </p:nvSpPr>
        <p:spPr>
          <a:xfrm>
            <a:off x="6610744" y="4662797"/>
            <a:ext cx="534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[13] “UR5e Collaborative Industrial Robot.” Accessed: Jul. 20, 2026. [Online]. Available: https://www.universal-robots.com/manuals/EN/HTML/SW10_12/Content/ </a:t>
            </a:r>
            <a:r>
              <a:rPr lang="en-US" sz="1200" err="1"/>
              <a:t>Landingpages</a:t>
            </a:r>
            <a:r>
              <a:rPr lang="en-US" sz="1200"/>
              <a:t>/</a:t>
            </a:r>
            <a:r>
              <a:rPr lang="en-US" sz="1200" err="1"/>
              <a:t>WebPolyX</a:t>
            </a:r>
            <a:r>
              <a:rPr lang="en-US" sz="1200"/>
              <a:t>/LandingarmUR5e.htm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21D17B65-70A3-6A68-1970-9F1985D9401D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89C1DFBC-DAFE-1DFD-97D5-54390699C3C9}"/>
              </a:ext>
            </a:extLst>
          </p:cNvPr>
          <p:cNvSpPr/>
          <p:nvPr/>
        </p:nvSpPr>
        <p:spPr>
          <a:xfrm>
            <a:off x="11183112" y="6035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071491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Notes>29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2026-07-25T19:17:19Z</dcterms:created>
  <dcterms:modified xsi:type="dcterms:W3CDTF">2026-07-31T15:35:46Z</dcterms:modified>
</cp:coreProperties>
</file>